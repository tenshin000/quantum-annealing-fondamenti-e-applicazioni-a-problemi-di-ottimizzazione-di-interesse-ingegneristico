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notesMasterIdLst>
    <p:notesMasterId r:id="rId3"/>
  </p:notesMasterIdLst>
  <p:sldIdLst>
    <p:sldId id="277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383589-15D9-4CFE-9B4B-26AE81DF1623}" type="datetimeFigureOut">
              <a:rPr lang="it-IT" smtClean="0"/>
              <a:t>09/12/2024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9E6542-C006-42EB-AFFB-A9CDF48A32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9923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300" b="1" u="sng" dirty="0"/>
              <a:t>Sportello Front-Office </a:t>
            </a:r>
            <a:endParaRPr lang="it-IT" sz="1300" dirty="0"/>
          </a:p>
          <a:p>
            <a:r>
              <a:rPr lang="it-IT" sz="1300" b="1" dirty="0"/>
              <a:t>Il servizio è reso da studenti part time</a:t>
            </a:r>
            <a:r>
              <a:rPr lang="it-IT" sz="1300" dirty="0"/>
              <a:t>. Vengono fornite informazioni sull'offerta didattica, sulle immatricolazioni e iscrizioni rinviando agli esperti di settore. Fornisce inoltre informazioni sui servizi di orientamento, sui servizi per studenti stranieri, sui tirocini, sul dopo laurea ed altre informazioni utili.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EE60B4-5E75-47B1-8ECC-4F5809CE13DE}" type="slidenum">
              <a:rPr kumimoji="0" lang="it-IT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7583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65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5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733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7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163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99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492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555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283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206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440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12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1000">
              <a:schemeClr val="accent1">
                <a:lumMod val="5000"/>
                <a:lumOff val="95000"/>
                <a:alpha val="5000"/>
              </a:schemeClr>
            </a:gs>
            <a:gs pos="0">
              <a:schemeClr val="accent1">
                <a:lumMod val="60000"/>
                <a:lumOff val="40000"/>
              </a:schemeClr>
            </a:gs>
            <a:gs pos="41500">
              <a:srgbClr val="D3E0EF"/>
            </a:gs>
            <a:gs pos="22000">
              <a:schemeClr val="accent1">
                <a:lumMod val="45000"/>
                <a:lumOff val="55000"/>
              </a:schemeClr>
            </a:gs>
            <a:gs pos="87000">
              <a:schemeClr val="accent1">
                <a:lumMod val="30000"/>
                <a:lumOff val="70000"/>
              </a:schemeClr>
            </a:gs>
          </a:gsLst>
          <a:lin ang="7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 rot="-5400000">
            <a:off x="2675991" y="3644434"/>
            <a:ext cx="221229" cy="5573210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it-IT" dirty="0"/>
          </a:p>
        </p:txBody>
      </p:sp>
      <p:grpSp>
        <p:nvGrpSpPr>
          <p:cNvPr id="4" name="Group 4"/>
          <p:cNvGrpSpPr/>
          <p:nvPr/>
        </p:nvGrpSpPr>
        <p:grpSpPr>
          <a:xfrm rot="-10800000">
            <a:off x="6348813" y="0"/>
            <a:ext cx="5843187" cy="4124189"/>
            <a:chOff x="0" y="0"/>
            <a:chExt cx="6350000" cy="6339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3" cstate="print">
            <a:alphaModFix amt="65999"/>
          </a:blip>
          <a:srcRect/>
          <a:stretch>
            <a:fillRect/>
          </a:stretch>
        </p:blipFill>
        <p:spPr>
          <a:xfrm rot="2113473">
            <a:off x="9457791" y="1241140"/>
            <a:ext cx="2391368" cy="1641307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 rot="12935635">
            <a:off x="8485418" y="1091822"/>
            <a:ext cx="2137901" cy="1068951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8395891" y="1169232"/>
            <a:ext cx="1749032" cy="1785725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 rot="-5400000">
            <a:off x="3325708" y="-2375208"/>
            <a:ext cx="45719" cy="6697136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id="18" name="Group 18"/>
          <p:cNvGrpSpPr/>
          <p:nvPr/>
        </p:nvGrpSpPr>
        <p:grpSpPr>
          <a:xfrm>
            <a:off x="6208692" y="2585628"/>
            <a:ext cx="5542805" cy="3295564"/>
            <a:chOff x="0" y="-28575"/>
            <a:chExt cx="11085609" cy="6591128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28575"/>
              <a:ext cx="11085609" cy="6199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2384695"/>
              <a:ext cx="11085609" cy="6199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5904167"/>
              <a:ext cx="11085609" cy="6583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3000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B8EA501-835F-484F-B384-C4D371500386}"/>
              </a:ext>
            </a:extLst>
          </p:cNvPr>
          <p:cNvSpPr txBox="1"/>
          <p:nvPr/>
        </p:nvSpPr>
        <p:spPr>
          <a:xfrm>
            <a:off x="5618967" y="4327037"/>
            <a:ext cx="6392703" cy="7333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000"/>
              </a:lnSpc>
            </a:pPr>
            <a:endParaRPr lang="en-US" sz="800" b="1" spc="20" dirty="0">
              <a:solidFill>
                <a:srgbClr val="F2F0F4"/>
              </a:solidFill>
              <a:latin typeface="Times New Roman" pitchFamily="18" charset="0"/>
              <a:cs typeface="Times New Roman" pitchFamily="18" charset="0"/>
            </a:endParaRPr>
          </a:p>
          <a:p>
            <a:pPr defTabSz="609630">
              <a:lnSpc>
                <a:spcPts val="3000"/>
              </a:lnSpc>
            </a:pPr>
            <a:endParaRPr lang="en-US" sz="2000" b="1" spc="20" dirty="0">
              <a:solidFill>
                <a:srgbClr val="F2F0F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7" name="Group 18">
            <a:extLst>
              <a:ext uri="{FF2B5EF4-FFF2-40B4-BE49-F238E27FC236}">
                <a16:creationId xmlns:a16="http://schemas.microsoft.com/office/drawing/2014/main" id="{AD235C3A-AD37-456B-8F0E-D2AFFCCF60F9}"/>
              </a:ext>
            </a:extLst>
          </p:cNvPr>
          <p:cNvGrpSpPr/>
          <p:nvPr/>
        </p:nvGrpSpPr>
        <p:grpSpPr>
          <a:xfrm>
            <a:off x="6242796" y="2853404"/>
            <a:ext cx="5542805" cy="3295564"/>
            <a:chOff x="0" y="-28575"/>
            <a:chExt cx="11085609" cy="6591128"/>
          </a:xfrm>
        </p:grpSpPr>
        <p:sp>
          <p:nvSpPr>
            <p:cNvPr id="28" name="TextBox 19">
              <a:extLst>
                <a:ext uri="{FF2B5EF4-FFF2-40B4-BE49-F238E27FC236}">
                  <a16:creationId xmlns:a16="http://schemas.microsoft.com/office/drawing/2014/main" id="{6C160FFC-BF29-40F3-9662-4F5DC9DA4EF0}"/>
                </a:ext>
              </a:extLst>
            </p:cNvPr>
            <p:cNvSpPr txBox="1"/>
            <p:nvPr/>
          </p:nvSpPr>
          <p:spPr>
            <a:xfrm>
              <a:off x="0" y="-28575"/>
              <a:ext cx="11085609" cy="6199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" name="TextBox 20">
              <a:extLst>
                <a:ext uri="{FF2B5EF4-FFF2-40B4-BE49-F238E27FC236}">
                  <a16:creationId xmlns:a16="http://schemas.microsoft.com/office/drawing/2014/main" id="{37A003FB-B7AE-4AB2-978F-771A1EA796A4}"/>
                </a:ext>
              </a:extLst>
            </p:cNvPr>
            <p:cNvSpPr txBox="1"/>
            <p:nvPr/>
          </p:nvSpPr>
          <p:spPr>
            <a:xfrm>
              <a:off x="0" y="1098185"/>
              <a:ext cx="11085609" cy="6583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3000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44FB01D0-B2AF-4013-BD0D-EE6A420013C5}"/>
                </a:ext>
              </a:extLst>
            </p:cNvPr>
            <p:cNvSpPr txBox="1"/>
            <p:nvPr/>
          </p:nvSpPr>
          <p:spPr>
            <a:xfrm>
              <a:off x="0" y="2384695"/>
              <a:ext cx="11085609" cy="6199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773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" name="TextBox 22">
              <a:extLst>
                <a:ext uri="{FF2B5EF4-FFF2-40B4-BE49-F238E27FC236}">
                  <a16:creationId xmlns:a16="http://schemas.microsoft.com/office/drawing/2014/main" id="{421DA5D8-F9E7-4C92-A2B2-C01D4DBDAA0F}"/>
                </a:ext>
              </a:extLst>
            </p:cNvPr>
            <p:cNvSpPr txBox="1"/>
            <p:nvPr/>
          </p:nvSpPr>
          <p:spPr>
            <a:xfrm>
              <a:off x="0" y="3511453"/>
              <a:ext cx="11085609" cy="6972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3000"/>
                </a:lnSpc>
              </a:pPr>
              <a:endParaRPr lang="en-US" sz="2000" b="1" spc="20" dirty="0">
                <a:solidFill>
                  <a:srgbClr val="F2F0F4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2D2E34D3-BE8D-4319-910B-C2640377823E}"/>
                </a:ext>
              </a:extLst>
            </p:cNvPr>
            <p:cNvSpPr txBox="1"/>
            <p:nvPr/>
          </p:nvSpPr>
          <p:spPr>
            <a:xfrm>
              <a:off x="0" y="4806831"/>
              <a:ext cx="11085609" cy="620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2600"/>
                </a:lnSpc>
              </a:pPr>
              <a:endParaRPr lang="en-US" sz="2000" b="1" spc="180" dirty="0">
                <a:solidFill>
                  <a:srgbClr val="F2F0F4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TextBox 24">
              <a:extLst>
                <a:ext uri="{FF2B5EF4-FFF2-40B4-BE49-F238E27FC236}">
                  <a16:creationId xmlns:a16="http://schemas.microsoft.com/office/drawing/2014/main" id="{46756D82-5ADF-430B-B905-23098C200493}"/>
                </a:ext>
              </a:extLst>
            </p:cNvPr>
            <p:cNvSpPr txBox="1"/>
            <p:nvPr/>
          </p:nvSpPr>
          <p:spPr>
            <a:xfrm>
              <a:off x="0" y="5904167"/>
              <a:ext cx="11085609" cy="6583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609630">
                <a:lnSpc>
                  <a:spcPts val="3000"/>
                </a:lnSpc>
              </a:pPr>
              <a:endParaRPr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" name="CasellaDiTesto 3">
            <a:extLst>
              <a:ext uri="{FF2B5EF4-FFF2-40B4-BE49-F238E27FC236}">
                <a16:creationId xmlns:a16="http://schemas.microsoft.com/office/drawing/2014/main" id="{6A00E37B-C9F2-4FCD-F63D-5A5BAAC82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55" y="256643"/>
            <a:ext cx="883399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GB" sz="2800" b="1" dirty="0"/>
              <a:t>Corso di </a:t>
            </a:r>
            <a:r>
              <a:rPr lang="en-GB" sz="2800" b="1" dirty="0" err="1"/>
              <a:t>laurea</a:t>
            </a:r>
            <a:r>
              <a:rPr lang="en-GB" sz="2800" b="1" dirty="0"/>
              <a:t> in </a:t>
            </a:r>
            <a:r>
              <a:rPr lang="en-GB" sz="2800" b="1" dirty="0" err="1"/>
              <a:t>Ingegneria</a:t>
            </a:r>
            <a:r>
              <a:rPr lang="en-GB" sz="2800" b="1" dirty="0"/>
              <a:t> Informatica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E6DEE76-0B03-A5FD-45DF-EF94C375475D}"/>
              </a:ext>
            </a:extLst>
          </p:cNvPr>
          <p:cNvSpPr txBox="1"/>
          <p:nvPr/>
        </p:nvSpPr>
        <p:spPr>
          <a:xfrm>
            <a:off x="279743" y="3079954"/>
            <a:ext cx="491070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500" dirty="0"/>
              <a:t>Il lavoro ha riguardato il Quantum Annealing, un paradigma di computazione quantistica specializzato per la risoluzione di problemi di ottimizzazione. </a:t>
            </a:r>
          </a:p>
          <a:p>
            <a:br>
              <a:rPr lang="it-IT" sz="1500" dirty="0"/>
            </a:br>
            <a:r>
              <a:rPr lang="it-IT" sz="1500" dirty="0"/>
              <a:t>Dopo aver introdotto i postulati della meccanica quantistica e le proprietà dei qubit, il lavoro analizza i modelli per rappresentare problemi di ottimizzazione. Vengono descritti il processo adiabatico e l’effetto tunnel, fondamentali per l’identificazione del minimo globale di un problema. </a:t>
            </a:r>
          </a:p>
          <a:p>
            <a:endParaRPr lang="it-IT" sz="1500" dirty="0"/>
          </a:p>
          <a:p>
            <a:r>
              <a:rPr lang="it-IT" sz="1500" dirty="0"/>
              <a:t>La tesi applica il Quantum Annealing a casi pratici come il problema del Commesso Viaggiatore e l’algoritmo di Grover, evidenziandone potenzialità e limiti rispetto ad approcci tradizionali.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BBE69380-4E78-8FCB-500B-9AFAD29BD2C9}"/>
              </a:ext>
            </a:extLst>
          </p:cNvPr>
          <p:cNvSpPr/>
          <p:nvPr/>
        </p:nvSpPr>
        <p:spPr bwMode="auto">
          <a:xfrm>
            <a:off x="6105011" y="3224346"/>
            <a:ext cx="3685803" cy="3312368"/>
          </a:xfrm>
          <a:prstGeom prst="rect">
            <a:avLst/>
          </a:prstGeom>
          <a:solidFill>
            <a:schemeClr val="tx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dirty="0">
                <a:solidFill>
                  <a:srgbClr val="99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Spazio per</a:t>
            </a:r>
          </a:p>
          <a:p>
            <a:pPr algn="ctr"/>
            <a:r>
              <a:rPr lang="it-IT" dirty="0">
                <a:solidFill>
                  <a:srgbClr val="99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immagine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5A7F071-42B3-9EAF-0C29-0191EDA9E415}"/>
              </a:ext>
            </a:extLst>
          </p:cNvPr>
          <p:cNvSpPr txBox="1"/>
          <p:nvPr/>
        </p:nvSpPr>
        <p:spPr>
          <a:xfrm>
            <a:off x="134842" y="1680340"/>
            <a:ext cx="8261049" cy="89255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GB" sz="2000" b="1" i="1" dirty="0" err="1"/>
              <a:t>Prova</a:t>
            </a:r>
            <a:r>
              <a:rPr lang="en-GB" sz="2000" b="1" i="1" dirty="0"/>
              <a:t> finale</a:t>
            </a:r>
          </a:p>
          <a:p>
            <a:r>
              <a:rPr lang="it-IT" sz="1600" b="1" dirty="0"/>
              <a:t>Quantum Annealing: Fondamenti e Applicazioni a Problemi di Ottimizzazione di Interesse Ingegneristico</a:t>
            </a:r>
            <a:endParaRPr lang="en-GB" sz="1600" b="1" dirty="0"/>
          </a:p>
        </p:txBody>
      </p:sp>
      <p:sp>
        <p:nvSpPr>
          <p:cNvPr id="13" name="AutoShape 17">
            <a:extLst>
              <a:ext uri="{FF2B5EF4-FFF2-40B4-BE49-F238E27FC236}">
                <a16:creationId xmlns:a16="http://schemas.microsoft.com/office/drawing/2014/main" id="{859A3A89-965B-B393-62B8-47A3E3B0CA89}"/>
              </a:ext>
            </a:extLst>
          </p:cNvPr>
          <p:cNvSpPr/>
          <p:nvPr/>
        </p:nvSpPr>
        <p:spPr>
          <a:xfrm rot="16200000" flipH="1">
            <a:off x="2740972" y="253861"/>
            <a:ext cx="91265" cy="557321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5" name="CasellaDiTesto 3">
            <a:extLst>
              <a:ext uri="{FF2B5EF4-FFF2-40B4-BE49-F238E27FC236}">
                <a16:creationId xmlns:a16="http://schemas.microsoft.com/office/drawing/2014/main" id="{DE6692DC-33FF-DFAD-D600-E030455DA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841" y="1066596"/>
            <a:ext cx="570834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GB" sz="2800" b="1" dirty="0" err="1"/>
              <a:t>Laureato</a:t>
            </a:r>
            <a:r>
              <a:rPr lang="en-GB" sz="2800" b="1" dirty="0"/>
              <a:t>: Dott. Francesco Panattoni</a:t>
            </a:r>
          </a:p>
        </p:txBody>
      </p:sp>
      <p:sp>
        <p:nvSpPr>
          <p:cNvPr id="20" name="CasellaDiTesto 3">
            <a:extLst>
              <a:ext uri="{FF2B5EF4-FFF2-40B4-BE49-F238E27FC236}">
                <a16:creationId xmlns:a16="http://schemas.microsoft.com/office/drawing/2014/main" id="{27DF14AF-9B67-63E9-85BB-C4F12854F3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008" y="2526253"/>
            <a:ext cx="45002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GB" b="1" dirty="0" err="1"/>
              <a:t>Relatore</a:t>
            </a:r>
            <a:r>
              <a:rPr lang="en-GB" b="1" dirty="0"/>
              <a:t>: Prof. Marco </a:t>
            </a:r>
            <a:r>
              <a:rPr lang="en-GB" b="1" dirty="0" err="1"/>
              <a:t>Cococcioni</a:t>
            </a:r>
            <a:endParaRPr lang="en-GB" b="1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62BF21D4-58D1-7370-F7CF-F8C60180A0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011" y="3229304"/>
            <a:ext cx="3685803" cy="33074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185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Monica Puccini</dc:creator>
  <cp:lastModifiedBy>Francesco Panattoni</cp:lastModifiedBy>
  <cp:revision>13</cp:revision>
  <dcterms:created xsi:type="dcterms:W3CDTF">2023-06-19T11:45:48Z</dcterms:created>
  <dcterms:modified xsi:type="dcterms:W3CDTF">2024-12-09T11:26:08Z</dcterms:modified>
</cp:coreProperties>
</file>